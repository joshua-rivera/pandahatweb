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poster generated from the 2026 Group B research protocol. All quantitative results are intentionally blank and must be filled only from the final analyzed B05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8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mnt/data/upr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148840" cy="1874520"/>
          </a:xfrm>
          <a:prstGeom prst="rect">
            <a:avLst/>
          </a:prstGeom>
        </p:spPr>
      </p:pic>
      <p:pic>
        <p:nvPicPr>
          <p:cNvPr id="4" name="Image 1" descr="/mnt/data/iap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184" y="411480"/>
            <a:ext cx="2788920" cy="1874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88920" y="384048"/>
            <a:ext cx="16139160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5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Face-Swap Manipulation on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0B5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Watermark Recoverability</a:t>
            </a:r>
            <a:endParaRPr lang="en-US" sz="4200" dirty="0"/>
          </a:p>
        </p:txBody>
      </p:sp>
      <p:sp>
        <p:nvSpPr>
          <p:cNvPr id="6" name="Text 2"/>
          <p:cNvSpPr txBox="1"/>
          <p:nvPr/>
        </p:nvSpPr>
        <p:spPr>
          <a:xfrm>
            <a:off x="2834640" y="1984248"/>
            <a:ext cx="16047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Watermarking for Deepfake Detection, Authentication, and Localization · Group B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675120" y="2532888"/>
            <a:ext cx="8595360" cy="47548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748272" y="2596896"/>
            <a:ext cx="84490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· RESULTS / METRICS INTENTIONALLY LEFT BLANK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0" y="3154680"/>
            <a:ext cx="21945600" cy="420624"/>
          </a:xfrm>
          <a:prstGeom prst="rect">
            <a:avLst/>
          </a:prstGeom>
          <a:solidFill>
            <a:srgbClr val="D34A00"/>
          </a:solidFill>
          <a:ln w="12700">
            <a:solidFill>
              <a:srgbClr val="D34A00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0" y="3575304"/>
            <a:ext cx="21945600" cy="1965960"/>
          </a:xfrm>
          <a:prstGeom prst="rect">
            <a:avLst/>
          </a:prstGeom>
          <a:solidFill>
            <a:srgbClr val="F7BC76"/>
          </a:solidFill>
          <a:ln w="12700">
            <a:solidFill>
              <a:srgbClr val="F7BC76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57600" y="3749040"/>
            <a:ext cx="146304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Names: [INSERT TEAM NAMES]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4133088"/>
            <a:ext cx="14630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Advisor: [INSERT ADVISOR NAME]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4480560"/>
            <a:ext cx="14630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Sponsor: [INSERT SPONSOR / PROGRAM]     ·     Liaison: [INSERT, IF APPLICABLE]</a:t>
            </a:r>
            <a:endParaRPr lang="en-US" sz="1800" dirty="0"/>
          </a:p>
        </p:txBody>
      </p:sp>
      <p:pic>
        <p:nvPicPr>
          <p:cNvPr id="14" name="Image 2" descr="/mnt/data/lincoln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0" y="3886200"/>
            <a:ext cx="2057400" cy="1325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11680" y="5010912"/>
            <a:ext cx="179222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D43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content drafted from the 2026 experimental protocol. Replace bracketed fields before submission.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22960" y="5897880"/>
            <a:ext cx="6263640" cy="5852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5897880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05840" y="6016752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078992" y="6885432"/>
            <a:ext cx="5751576" cy="10789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and manipulated facial media can be visually convincing, making authenticity difficult to assess from appearance alone.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078992" y="7955280"/>
            <a:ext cx="575157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forensics analyzes an image after it exists. Proactive watermarking instead embeds an invisible signal before possible manipulation, creating a measurable integrity cue.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1143000" y="9601200"/>
            <a:ext cx="1508760" cy="47548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216152" y="9665208"/>
            <a:ext cx="13624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TARGET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2816352" y="9601200"/>
            <a:ext cx="1325880" cy="47548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889504" y="9665208"/>
            <a:ext cx="11795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TRUSTMARK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315968" y="9601200"/>
            <a:ext cx="1234440" cy="47548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89120" y="9665208"/>
            <a:ext cx="108813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SWAP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715000" y="9601200"/>
            <a:ext cx="960120" cy="47548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788152" y="9665208"/>
            <a:ext cx="81381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2633472" y="9838944"/>
            <a:ext cx="155448" cy="0"/>
          </a:xfrm>
          <a:prstGeom prst="line">
            <a:avLst/>
          </a:prstGeom>
          <a:noFill/>
          <a:ln w="25400">
            <a:solidFill>
              <a:srgbClr val="24538B"/>
            </a:solidFill>
            <a:prstDash val="solid"/>
            <a:headEnd type="none"/>
            <a:tailEnd type="none"/>
          </a:ln>
        </p:spPr>
      </p:sp>
      <p:sp>
        <p:nvSpPr>
          <p:cNvPr id="30" name="Shape 25"/>
          <p:cNvSpPr/>
          <p:nvPr/>
        </p:nvSpPr>
        <p:spPr>
          <a:xfrm>
            <a:off x="4160520" y="9838944"/>
            <a:ext cx="128016" cy="0"/>
          </a:xfrm>
          <a:prstGeom prst="line">
            <a:avLst/>
          </a:prstGeom>
          <a:noFill/>
          <a:ln w="25400">
            <a:solidFill>
              <a:srgbClr val="24538B"/>
            </a:solidFill>
            <a:prstDash val="solid"/>
            <a:headEnd type="none"/>
            <a:tailEnd type="none"/>
          </a:ln>
        </p:spPr>
      </p:sp>
      <p:sp>
        <p:nvSpPr>
          <p:cNvPr id="31" name="Shape 26"/>
          <p:cNvSpPr/>
          <p:nvPr/>
        </p:nvSpPr>
        <p:spPr>
          <a:xfrm>
            <a:off x="5577840" y="9838944"/>
            <a:ext cx="109728" cy="0"/>
          </a:xfrm>
          <a:prstGeom prst="line">
            <a:avLst/>
          </a:prstGeom>
          <a:noFill/>
          <a:ln w="25400">
            <a:solidFill>
              <a:srgbClr val="24538B"/>
            </a:solidFill>
            <a:prstDash val="solid"/>
            <a:headEnd type="none"/>
            <a:tailEnd type="none"/>
          </a:ln>
        </p:spPr>
      </p:sp>
      <p:sp>
        <p:nvSpPr>
          <p:cNvPr id="32" name="Text 27"/>
          <p:cNvSpPr txBox="1"/>
          <p:nvPr/>
        </p:nvSpPr>
        <p:spPr>
          <a:xfrm>
            <a:off x="1078992" y="10268712"/>
            <a:ext cx="5751576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Group B study tests whether TrustMark remains detectable and recoverable after a controlled SimSwap face-swap, while separately verifying that identity transfer actually occurred.</a:t>
            </a:r>
            <a:endParaRPr lang="en-US" sz="2100" dirty="0"/>
          </a:p>
        </p:txBody>
      </p:sp>
      <p:sp>
        <p:nvSpPr>
          <p:cNvPr id="33" name="Shape 28"/>
          <p:cNvSpPr/>
          <p:nvPr/>
        </p:nvSpPr>
        <p:spPr>
          <a:xfrm>
            <a:off x="822960" y="11996928"/>
            <a:ext cx="6263640" cy="736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22960" y="11996928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005840" y="12115800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Problem &amp; Hypotheses</a:t>
            </a:r>
            <a:endParaRPr lang="en-US" sz="2500" dirty="0"/>
          </a:p>
        </p:txBody>
      </p:sp>
      <p:sp>
        <p:nvSpPr>
          <p:cNvPr id="36" name="Text 31"/>
          <p:cNvSpPr txBox="1"/>
          <p:nvPr/>
        </p:nvSpPr>
        <p:spPr>
          <a:xfrm>
            <a:off x="1078992" y="12947904"/>
            <a:ext cx="2011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</a:t>
            </a:r>
            <a:endParaRPr lang="en-US" sz="2100" dirty="0"/>
          </a:p>
        </p:txBody>
      </p:sp>
      <p:sp>
        <p:nvSpPr>
          <p:cNvPr id="37" name="Text 32"/>
          <p:cNvSpPr txBox="1"/>
          <p:nvPr/>
        </p:nvSpPr>
        <p:spPr>
          <a:xfrm>
            <a:off x="1078992" y="13304520"/>
            <a:ext cx="5751576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surviving watermark does not prove that the visual content was not modified. Watermark recovery, false positives, and face-swap success must be evaluated independently.</a:t>
            </a:r>
            <a:endParaRPr lang="en-US" sz="2100" dirty="0"/>
          </a:p>
        </p:txBody>
      </p:sp>
      <p:sp>
        <p:nvSpPr>
          <p:cNvPr id="38" name="Text 33"/>
          <p:cNvSpPr txBox="1"/>
          <p:nvPr/>
        </p:nvSpPr>
        <p:spPr>
          <a:xfrm>
            <a:off x="1078992" y="14977872"/>
            <a:ext cx="30632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hypotheses to test</a:t>
            </a:r>
            <a:endParaRPr lang="en-US" sz="2100" dirty="0"/>
          </a:p>
        </p:txBody>
      </p:sp>
      <p:sp>
        <p:nvSpPr>
          <p:cNvPr id="39" name="Text 34"/>
          <p:cNvSpPr/>
          <p:nvPr/>
        </p:nvSpPr>
        <p:spPr>
          <a:xfrm>
            <a:off x="1005840" y="15361920"/>
            <a:ext cx="5897880" cy="3584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Face-swap manipulation may reduce TrustMark recoverability relative to the pre-attack condition.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Adding TrustMark should not materially change the relative transfer of identity toward the source face.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Deepfakes created from unwatermarked targets should produce minimal TrustMark false positives.</a:t>
            </a:r>
            <a:endParaRPr lang="en-US" sz="2000" dirty="0"/>
          </a:p>
        </p:txBody>
      </p:sp>
      <p:sp>
        <p:nvSpPr>
          <p:cNvPr id="40" name="Shape 35"/>
          <p:cNvSpPr/>
          <p:nvPr/>
        </p:nvSpPr>
        <p:spPr>
          <a:xfrm>
            <a:off x="822960" y="19586448"/>
            <a:ext cx="6263640" cy="1069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22960" y="19586448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1005840" y="19705320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Objectives</a:t>
            </a:r>
            <a:endParaRPr lang="en-US" sz="2500" dirty="0"/>
          </a:p>
        </p:txBody>
      </p:sp>
      <p:sp>
        <p:nvSpPr>
          <p:cNvPr id="43" name="Text 38"/>
          <p:cNvSpPr/>
          <p:nvPr/>
        </p:nvSpPr>
        <p:spPr>
          <a:xfrm>
            <a:off x="1042416" y="20619720"/>
            <a:ext cx="5824728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TrustMark detection and payload recovery before and after face-swap manipulation.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false-positive detections in the unwatermarked fake_control branch.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identity transfer independently using a FaceNet/VGGFace2-style embedding model.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control and watermarked branches using the same source, target, generator, and SimSwap parameters.</a:t>
            </a:r>
            <a:endParaRPr lang="en-US" sz="2000" dirty="0"/>
          </a:p>
          <a:p>
            <a:pPr marL="241300" indent="-241300"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reproducibility through frozen manifests, fixed payload/configuration, saved outputs, and per-pair analysis.</a:t>
            </a:r>
            <a:endParaRPr lang="en-US" sz="2000" dirty="0"/>
          </a:p>
        </p:txBody>
      </p:sp>
      <p:sp>
        <p:nvSpPr>
          <p:cNvPr id="44" name="Shape 39"/>
          <p:cNvSpPr/>
          <p:nvPr/>
        </p:nvSpPr>
        <p:spPr>
          <a:xfrm>
            <a:off x="1143000" y="26929080"/>
            <a:ext cx="5623560" cy="26517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1325880" y="27121104"/>
            <a:ext cx="5257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100" dirty="0"/>
          </a:p>
        </p:txBody>
      </p:sp>
      <p:sp>
        <p:nvSpPr>
          <p:cNvPr id="46" name="Text 41"/>
          <p:cNvSpPr txBox="1"/>
          <p:nvPr/>
        </p:nvSpPr>
        <p:spPr>
          <a:xfrm>
            <a:off x="1325880" y="27505152"/>
            <a:ext cx="525780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RQ-B1  Does TrustMark remain detectable and exactly recoverable after face swap?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RQ-B2  Does watermark insertion alter identity-transfer success?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RQ-B3  Do unmarked controls generate false positives?</a:t>
            </a:r>
            <a:endParaRPr lang="en-US" sz="1800" dirty="0"/>
          </a:p>
        </p:txBody>
      </p:sp>
      <p:sp>
        <p:nvSpPr>
          <p:cNvPr id="47" name="Shape 42"/>
          <p:cNvSpPr/>
          <p:nvPr/>
        </p:nvSpPr>
        <p:spPr>
          <a:xfrm>
            <a:off x="7818120" y="5897880"/>
            <a:ext cx="6263640" cy="24387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7818120" y="5897880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001000" y="6016752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Methodology</a:t>
            </a:r>
            <a:endParaRPr lang="en-US" sz="2500" dirty="0"/>
          </a:p>
        </p:txBody>
      </p:sp>
      <p:sp>
        <p:nvSpPr>
          <p:cNvPr id="50" name="Text 45"/>
          <p:cNvSpPr txBox="1"/>
          <p:nvPr/>
        </p:nvSpPr>
        <p:spPr>
          <a:xfrm>
            <a:off x="8092440" y="6858000"/>
            <a:ext cx="2880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proactive design</a:t>
            </a:r>
            <a:endParaRPr lang="en-US" sz="2200" dirty="0"/>
          </a:p>
        </p:txBody>
      </p:sp>
      <p:sp>
        <p:nvSpPr>
          <p:cNvPr id="51" name="Text 46"/>
          <p:cNvSpPr txBox="1"/>
          <p:nvPr/>
        </p:nvSpPr>
        <p:spPr>
          <a:xfrm>
            <a:off x="8092440" y="7232904"/>
            <a:ext cx="571500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target/source pair is processed through two branches. The only intended experimental difference is whether the target receives TrustMark before SimSwap.</a:t>
            </a:r>
            <a:endParaRPr lang="en-US" sz="2100" dirty="0"/>
          </a:p>
        </p:txBody>
      </p:sp>
      <p:sp>
        <p:nvSpPr>
          <p:cNvPr id="52" name="Shape 47"/>
          <p:cNvSpPr/>
          <p:nvPr/>
        </p:nvSpPr>
        <p:spPr>
          <a:xfrm>
            <a:off x="8092440" y="8549640"/>
            <a:ext cx="57150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6E3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257032" y="8732520"/>
            <a:ext cx="5385816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FIXED CONFIGURATION</a:t>
            </a:r>
            <a:endParaRPr lang="en-US" sz="1800" dirty="0"/>
          </a:p>
        </p:txBody>
      </p:sp>
      <p:sp>
        <p:nvSpPr>
          <p:cNvPr id="54" name="Text 49"/>
          <p:cNvSpPr txBox="1"/>
          <p:nvPr/>
        </p:nvSpPr>
        <p:spPr>
          <a:xfrm>
            <a:off x="8275320" y="9116568"/>
            <a:ext cx="5349240" cy="1298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FaceForensics++ pairs · one selected frame per pair for smoke test · reproducible manifest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TrustMark Q + BCH_5 · strength = 1.0 · reproducible binary payload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SimSwap 224 pretrained · identical source and generator settings in both branches</a:t>
            </a:r>
            <a:endParaRPr lang="en-US" sz="1800" dirty="0"/>
          </a:p>
        </p:txBody>
      </p:sp>
      <p:sp>
        <p:nvSpPr>
          <p:cNvPr id="55" name="Shape 50"/>
          <p:cNvSpPr/>
          <p:nvPr/>
        </p:nvSpPr>
        <p:spPr>
          <a:xfrm>
            <a:off x="8165592" y="11018520"/>
            <a:ext cx="5568696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7D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8385048" y="11265408"/>
            <a:ext cx="1737360" cy="47548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458200" y="11329416"/>
            <a:ext cx="15910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BRANCH</a:t>
            </a:r>
            <a:endParaRPr lang="en-US" sz="1700" dirty="0"/>
          </a:p>
        </p:txBody>
      </p:sp>
      <p:sp>
        <p:nvSpPr>
          <p:cNvPr id="58" name="Text 53"/>
          <p:cNvSpPr txBox="1"/>
          <p:nvPr/>
        </p:nvSpPr>
        <p:spPr>
          <a:xfrm>
            <a:off x="8385048" y="11887200"/>
            <a:ext cx="21945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+ target original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10725912" y="11841480"/>
            <a:ext cx="1078992" cy="4754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10799064" y="11905488"/>
            <a:ext cx="93268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SimSwap</a:t>
            </a:r>
            <a:endParaRPr lang="en-US" sz="1700" dirty="0"/>
          </a:p>
        </p:txBody>
      </p:sp>
      <p:sp>
        <p:nvSpPr>
          <p:cNvPr id="61" name="Text 56"/>
          <p:cNvSpPr txBox="1"/>
          <p:nvPr/>
        </p:nvSpPr>
        <p:spPr>
          <a:xfrm>
            <a:off x="11841480" y="11804904"/>
            <a:ext cx="347472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2" name="Shape 57"/>
          <p:cNvSpPr/>
          <p:nvPr/>
        </p:nvSpPr>
        <p:spPr>
          <a:xfrm>
            <a:off x="12188952" y="11841480"/>
            <a:ext cx="1371600" cy="47548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12262104" y="11905488"/>
            <a:ext cx="12252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fake_control</a:t>
            </a:r>
            <a:endParaRPr lang="en-US" sz="1700" dirty="0"/>
          </a:p>
        </p:txBody>
      </p:sp>
      <p:sp>
        <p:nvSpPr>
          <p:cNvPr id="64" name="Text 59"/>
          <p:cNvSpPr txBox="1"/>
          <p:nvPr/>
        </p:nvSpPr>
        <p:spPr>
          <a:xfrm>
            <a:off x="8385048" y="12646152"/>
            <a:ext cx="5129784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negative control for TrustMark false positives + paired identity comparison.</a:t>
            </a:r>
            <a:endParaRPr lang="en-US" sz="1800" dirty="0"/>
          </a:p>
        </p:txBody>
      </p:sp>
      <p:sp>
        <p:nvSpPr>
          <p:cNvPr id="65" name="Shape 60"/>
          <p:cNvSpPr/>
          <p:nvPr/>
        </p:nvSpPr>
        <p:spPr>
          <a:xfrm>
            <a:off x="8165592" y="15060168"/>
            <a:ext cx="5568696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7C7D8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8385048" y="15307056"/>
            <a:ext cx="2057400" cy="4754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8458200" y="15371064"/>
            <a:ext cx="19110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BRANCH</a:t>
            </a:r>
            <a:endParaRPr lang="en-US" sz="1700" dirty="0"/>
          </a:p>
        </p:txBody>
      </p:sp>
      <p:sp>
        <p:nvSpPr>
          <p:cNvPr id="68" name="Text 63"/>
          <p:cNvSpPr txBox="1"/>
          <p:nvPr/>
        </p:nvSpPr>
        <p:spPr>
          <a:xfrm>
            <a:off x="8385048" y="15974568"/>
            <a:ext cx="129844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original</a:t>
            </a:r>
            <a:endParaRPr lang="en-US" sz="1800" dirty="0"/>
          </a:p>
        </p:txBody>
      </p:sp>
      <p:sp>
        <p:nvSpPr>
          <p:cNvPr id="69" name="Shape 64"/>
          <p:cNvSpPr/>
          <p:nvPr/>
        </p:nvSpPr>
        <p:spPr>
          <a:xfrm>
            <a:off x="9738360" y="15901416"/>
            <a:ext cx="1234440" cy="4754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9811512" y="15965424"/>
            <a:ext cx="108813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TrustMark</a:t>
            </a:r>
            <a:endParaRPr lang="en-US" sz="1700" dirty="0"/>
          </a:p>
        </p:txBody>
      </p:sp>
      <p:sp>
        <p:nvSpPr>
          <p:cNvPr id="71" name="Text 66"/>
          <p:cNvSpPr txBox="1"/>
          <p:nvPr/>
        </p:nvSpPr>
        <p:spPr>
          <a:xfrm>
            <a:off x="11018520" y="15883128"/>
            <a:ext cx="320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2" name="Text 67"/>
          <p:cNvSpPr txBox="1"/>
          <p:nvPr/>
        </p:nvSpPr>
        <p:spPr>
          <a:xfrm>
            <a:off x="11365992" y="15974568"/>
            <a:ext cx="1920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target_watermarked</a:t>
            </a:r>
            <a:endParaRPr lang="en-US" sz="1800" dirty="0"/>
          </a:p>
        </p:txBody>
      </p:sp>
      <p:sp>
        <p:nvSpPr>
          <p:cNvPr id="73" name="Shape 68"/>
          <p:cNvSpPr/>
          <p:nvPr/>
        </p:nvSpPr>
        <p:spPr>
          <a:xfrm>
            <a:off x="9692640" y="16651224"/>
            <a:ext cx="1143000" cy="4754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9765792" y="16715232"/>
            <a:ext cx="99669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SimSwap</a:t>
            </a:r>
            <a:endParaRPr lang="en-US" sz="1700" dirty="0"/>
          </a:p>
        </p:txBody>
      </p:sp>
      <p:sp>
        <p:nvSpPr>
          <p:cNvPr id="75" name="Text 70"/>
          <p:cNvSpPr txBox="1"/>
          <p:nvPr/>
        </p:nvSpPr>
        <p:spPr>
          <a:xfrm>
            <a:off x="10881360" y="16623792"/>
            <a:ext cx="320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6" name="Shape 71"/>
          <p:cNvSpPr/>
          <p:nvPr/>
        </p:nvSpPr>
        <p:spPr>
          <a:xfrm>
            <a:off x="11247120" y="16651224"/>
            <a:ext cx="1965960" cy="47548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4538B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11320272" y="16715232"/>
            <a:ext cx="18196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fake_watermarked</a:t>
            </a:r>
            <a:endParaRPr lang="en-US" sz="1700" dirty="0"/>
          </a:p>
        </p:txBody>
      </p:sp>
      <p:sp>
        <p:nvSpPr>
          <p:cNvPr id="78" name="Text 73"/>
          <p:cNvSpPr txBox="1"/>
          <p:nvPr/>
        </p:nvSpPr>
        <p:spPr>
          <a:xfrm>
            <a:off x="8385048" y="17437608"/>
            <a:ext cx="51297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evaluate watermark survival/recovery after the same face-swap operation.</a:t>
            </a:r>
            <a:endParaRPr lang="en-US" sz="1800" dirty="0"/>
          </a:p>
        </p:txBody>
      </p:sp>
      <p:sp>
        <p:nvSpPr>
          <p:cNvPr id="79" name="Text 74"/>
          <p:cNvSpPr txBox="1"/>
          <p:nvPr/>
        </p:nvSpPr>
        <p:spPr>
          <a:xfrm>
            <a:off x="8092440" y="19613880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plan</a:t>
            </a:r>
            <a:endParaRPr lang="en-US" sz="2200" dirty="0"/>
          </a:p>
        </p:txBody>
      </p:sp>
      <p:sp>
        <p:nvSpPr>
          <p:cNvPr id="80" name="Shape 75"/>
          <p:cNvSpPr/>
          <p:nvPr/>
        </p:nvSpPr>
        <p:spPr>
          <a:xfrm>
            <a:off x="8165592" y="20144232"/>
            <a:ext cx="5568696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6E3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8366760" y="2039112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WATERMARK</a:t>
            </a:r>
            <a:endParaRPr lang="en-US" sz="1800" dirty="0"/>
          </a:p>
        </p:txBody>
      </p:sp>
      <p:sp>
        <p:nvSpPr>
          <p:cNvPr id="82" name="Text 77"/>
          <p:cNvSpPr txBox="1"/>
          <p:nvPr/>
        </p:nvSpPr>
        <p:spPr>
          <a:xfrm>
            <a:off x="8366760" y="20729448"/>
            <a:ext cx="51663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 · bit accuracy · BER · exact recovery · PSNR · SSIM</a:t>
            </a:r>
            <a:endParaRPr lang="en-US" sz="1800" dirty="0"/>
          </a:p>
        </p:txBody>
      </p:sp>
      <p:sp>
        <p:nvSpPr>
          <p:cNvPr id="83" name="Text 78"/>
          <p:cNvSpPr txBox="1"/>
          <p:nvPr/>
        </p:nvSpPr>
        <p:spPr>
          <a:xfrm>
            <a:off x="8366760" y="21534120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TRANSFER</a:t>
            </a:r>
            <a:endParaRPr lang="en-US" sz="1800" dirty="0"/>
          </a:p>
        </p:txBody>
      </p:sp>
      <p:sp>
        <p:nvSpPr>
          <p:cNvPr id="84" name="Text 79"/>
          <p:cNvSpPr txBox="1"/>
          <p:nvPr/>
        </p:nvSpPr>
        <p:spPr>
          <a:xfrm>
            <a:off x="8366760" y="21863304"/>
            <a:ext cx="5166360" cy="1298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sim(source,target) · sim(source,fake) · sim(target,fake)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shift_to_source = sim(source,fake) − sim(source,target)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identity_margin = sim(source,fake) − sim(target,fake)</a:t>
            </a:r>
            <a:endParaRPr lang="en-US" sz="1700" dirty="0"/>
          </a:p>
        </p:txBody>
      </p:sp>
      <p:sp>
        <p:nvSpPr>
          <p:cNvPr id="85" name="Text 80"/>
          <p:cNvSpPr txBox="1"/>
          <p:nvPr/>
        </p:nvSpPr>
        <p:spPr>
          <a:xfrm>
            <a:off x="8366760" y="23289768"/>
            <a:ext cx="5166360" cy="12070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evidence of swap success: shift_to_source &gt; 0 AND identity_margin &gt; 0. This is a relative operational rule, not a universal biometric threshold.</a:t>
            </a:r>
            <a:endParaRPr lang="en-US" sz="1600" dirty="0"/>
          </a:p>
        </p:txBody>
      </p:sp>
      <p:sp>
        <p:nvSpPr>
          <p:cNvPr id="86" name="Shape 81"/>
          <p:cNvSpPr/>
          <p:nvPr/>
        </p:nvSpPr>
        <p:spPr>
          <a:xfrm>
            <a:off x="8165592" y="25283160"/>
            <a:ext cx="5568696" cy="437083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87" name="Text 82"/>
          <p:cNvSpPr txBox="1"/>
          <p:nvPr/>
        </p:nvSpPr>
        <p:spPr>
          <a:xfrm>
            <a:off x="8348472" y="25511760"/>
            <a:ext cx="5202936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/ INTERPRETATION RULES</a:t>
            </a:r>
            <a:endParaRPr lang="en-US" sz="1800" dirty="0"/>
          </a:p>
        </p:txBody>
      </p:sp>
      <p:sp>
        <p:nvSpPr>
          <p:cNvPr id="88" name="Text 83"/>
          <p:cNvSpPr/>
          <p:nvPr/>
        </p:nvSpPr>
        <p:spPr>
          <a:xfrm>
            <a:off x="8275320" y="25923240"/>
            <a:ext cx="53492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5105" indent="-205105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change payload, strength, generator, or parameters between paired branches.</a:t>
            </a:r>
            <a:endParaRPr lang="en-US" sz="1700" dirty="0"/>
          </a:p>
          <a:p>
            <a:pPr marL="205105" indent="-205105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primary outputs as PNG; decode and score the same artifact that is retained.</a:t>
            </a:r>
            <a:endParaRPr lang="en-US" sz="1700" dirty="0"/>
          </a:p>
          <a:p>
            <a:pPr marL="205105" indent="-205105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infer “authentic” from watermark detection alone.</a:t>
            </a:r>
            <a:endParaRPr lang="en-US" sz="1700" dirty="0"/>
          </a:p>
          <a:p>
            <a:pPr marL="205105" indent="-205105">
              <a:buSzPct val="100000"/>
              <a:buChar char="•"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failures per pair; do not remove difficult cases because they reduce metrics.</a:t>
            </a:r>
            <a:endParaRPr lang="en-US" sz="1700" dirty="0"/>
          </a:p>
        </p:txBody>
      </p:sp>
      <p:sp>
        <p:nvSpPr>
          <p:cNvPr id="89" name="Shape 84"/>
          <p:cNvSpPr/>
          <p:nvPr/>
        </p:nvSpPr>
        <p:spPr>
          <a:xfrm>
            <a:off x="14813280" y="5897880"/>
            <a:ext cx="6263640" cy="1446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14813280" y="5897880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91" name="Text 86"/>
          <p:cNvSpPr txBox="1"/>
          <p:nvPr/>
        </p:nvSpPr>
        <p:spPr>
          <a:xfrm>
            <a:off x="14996160" y="6016752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Results</a:t>
            </a:r>
            <a:endParaRPr lang="en-US" sz="2500" dirty="0"/>
          </a:p>
        </p:txBody>
      </p:sp>
      <p:sp>
        <p:nvSpPr>
          <p:cNvPr id="92" name="Shape 87"/>
          <p:cNvSpPr/>
          <p:nvPr/>
        </p:nvSpPr>
        <p:spPr>
          <a:xfrm>
            <a:off x="15133320" y="6885432"/>
            <a:ext cx="5623560" cy="129844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93" name="Text 88"/>
          <p:cNvSpPr txBox="1"/>
          <p:nvPr/>
        </p:nvSpPr>
        <p:spPr>
          <a:xfrm>
            <a:off x="15316200" y="7086600"/>
            <a:ext cx="5257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QUANTITATIVE RESULTS INSERTED YET</a:t>
            </a:r>
            <a:endParaRPr lang="en-US" sz="2000" dirty="0"/>
          </a:p>
        </p:txBody>
      </p:sp>
      <p:sp>
        <p:nvSpPr>
          <p:cNvPr id="94" name="Text 89"/>
          <p:cNvSpPr txBox="1"/>
          <p:nvPr/>
        </p:nvSpPr>
        <p:spPr>
          <a:xfrm>
            <a:off x="15343632" y="7498080"/>
            <a:ext cx="5202936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only after the B01–B05 pipeline is complete and the analyzed subset/configuration is frozen.</a:t>
            </a:r>
            <a:endParaRPr lang="en-US" sz="1600" dirty="0"/>
          </a:p>
        </p:txBody>
      </p:sp>
      <p:sp>
        <p:nvSpPr>
          <p:cNvPr id="95" name="Shape 90"/>
          <p:cNvSpPr/>
          <p:nvPr/>
        </p:nvSpPr>
        <p:spPr>
          <a:xfrm>
            <a:off x="15133320" y="8439912"/>
            <a:ext cx="5623560" cy="3886200"/>
          </a:xfrm>
          <a:prstGeom prst="round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15343632" y="8668512"/>
            <a:ext cx="5202936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 fields — intentionally blank</a:t>
            </a:r>
            <a:endParaRPr lang="en-US" sz="1800" dirty="0"/>
          </a:p>
        </p:txBody>
      </p:sp>
      <p:sp>
        <p:nvSpPr>
          <p:cNvPr id="97" name="Text 92"/>
          <p:cNvSpPr txBox="1"/>
          <p:nvPr/>
        </p:nvSpPr>
        <p:spPr>
          <a:xfrm>
            <a:off x="15380208" y="9116568"/>
            <a:ext cx="5129784" cy="2697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Pre-swap detection rate:        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Post-swap detection rate:       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Post-swap bit accuracy:         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Post-swap BER:                  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recovery rate:            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false-positive rate:     __________</a:t>
            </a:r>
            <a:endParaRPr lang="en-US" sz="1700" dirty="0"/>
          </a:p>
        </p:txBody>
      </p:sp>
      <p:sp>
        <p:nvSpPr>
          <p:cNvPr id="98" name="Shape 93"/>
          <p:cNvSpPr/>
          <p:nvPr/>
        </p:nvSpPr>
        <p:spPr>
          <a:xfrm>
            <a:off x="15133320" y="12618720"/>
            <a:ext cx="5623560" cy="269748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5270480" y="12819888"/>
            <a:ext cx="5349240" cy="0"/>
          </a:xfrm>
          <a:prstGeom prst="line">
            <a:avLst/>
          </a:prstGeom>
          <a:noFill/>
          <a:ln w="12700">
            <a:solidFill>
              <a:srgbClr val="D5B77A"/>
            </a:solidFill>
            <a:prstDash val="dash"/>
            <a:headEnd type="none"/>
            <a:tailEnd type="none"/>
          </a:ln>
        </p:spPr>
      </p:sp>
      <p:sp>
        <p:nvSpPr>
          <p:cNvPr id="100" name="Shape 95"/>
          <p:cNvSpPr/>
          <p:nvPr/>
        </p:nvSpPr>
        <p:spPr>
          <a:xfrm>
            <a:off x="15270480" y="15115032"/>
            <a:ext cx="5349240" cy="0"/>
          </a:xfrm>
          <a:prstGeom prst="line">
            <a:avLst/>
          </a:prstGeom>
          <a:noFill/>
          <a:ln w="12700">
            <a:solidFill>
              <a:srgbClr val="D5B77A"/>
            </a:solidFill>
            <a:prstDash val="dash"/>
            <a:headEnd type="none"/>
            <a:tailEnd type="none"/>
          </a:ln>
        </p:spPr>
      </p:sp>
      <p:sp>
        <p:nvSpPr>
          <p:cNvPr id="101" name="Text 96"/>
          <p:cNvSpPr txBox="1"/>
          <p:nvPr/>
        </p:nvSpPr>
        <p:spPr>
          <a:xfrm>
            <a:off x="15297912" y="12874752"/>
            <a:ext cx="5294376" cy="21854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B05 FIGURE: Detection Rate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fake_control vs fake_watermarked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[METRICS / BARS LEFT BLANK]</a:t>
            </a:r>
            <a:endParaRPr lang="en-US" sz="1900" dirty="0"/>
          </a:p>
        </p:txBody>
      </p:sp>
      <p:sp>
        <p:nvSpPr>
          <p:cNvPr id="102" name="Shape 97"/>
          <p:cNvSpPr/>
          <p:nvPr/>
        </p:nvSpPr>
        <p:spPr>
          <a:xfrm>
            <a:off x="15133320" y="15535656"/>
            <a:ext cx="5623560" cy="269748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D18A00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15270480" y="15736824"/>
            <a:ext cx="5349240" cy="0"/>
          </a:xfrm>
          <a:prstGeom prst="line">
            <a:avLst/>
          </a:prstGeom>
          <a:noFill/>
          <a:ln w="12700">
            <a:solidFill>
              <a:srgbClr val="D5B77A"/>
            </a:solidFill>
            <a:prstDash val="dash"/>
            <a:headEnd type="none"/>
            <a:tailEnd type="none"/>
          </a:ln>
        </p:spPr>
      </p:sp>
      <p:sp>
        <p:nvSpPr>
          <p:cNvPr id="104" name="Shape 99"/>
          <p:cNvSpPr/>
          <p:nvPr/>
        </p:nvSpPr>
        <p:spPr>
          <a:xfrm>
            <a:off x="15270480" y="18031968"/>
            <a:ext cx="5349240" cy="0"/>
          </a:xfrm>
          <a:prstGeom prst="line">
            <a:avLst/>
          </a:prstGeom>
          <a:noFill/>
          <a:ln w="12700">
            <a:solidFill>
              <a:srgbClr val="D5B77A"/>
            </a:solidFill>
            <a:prstDash val="dash"/>
            <a:headEnd type="none"/>
            <a:tailEnd type="none"/>
          </a:ln>
        </p:spPr>
      </p:sp>
      <p:sp>
        <p:nvSpPr>
          <p:cNvPr id="105" name="Text 100"/>
          <p:cNvSpPr txBox="1"/>
          <p:nvPr/>
        </p:nvSpPr>
        <p:spPr>
          <a:xfrm>
            <a:off x="15297912" y="15791688"/>
            <a:ext cx="5294376" cy="21854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B05 FIGURE: Identity Transfer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vs watermarked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1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[VALUES LEFT BLANK]</a:t>
            </a:r>
            <a:endParaRPr lang="en-US" sz="1900" dirty="0"/>
          </a:p>
        </p:txBody>
      </p:sp>
      <p:sp>
        <p:nvSpPr>
          <p:cNvPr id="106" name="Text 101"/>
          <p:cNvSpPr txBox="1"/>
          <p:nvPr/>
        </p:nvSpPr>
        <p:spPr>
          <a:xfrm>
            <a:off x="15179040" y="18498312"/>
            <a:ext cx="3246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sentence template</a:t>
            </a:r>
            <a:endParaRPr lang="en-US" sz="1700" dirty="0"/>
          </a:p>
        </p:txBody>
      </p:sp>
      <p:sp>
        <p:nvSpPr>
          <p:cNvPr id="107" name="Text 102"/>
          <p:cNvSpPr txBox="1"/>
          <p:nvPr/>
        </p:nvSpPr>
        <p:spPr>
          <a:xfrm>
            <a:off x="15179040" y="18836640"/>
            <a:ext cx="55321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“Across [n = ____] independent pairs, we observed __________. TrustMark recovery and face-swap success were interpreted separately, with limitations stated for the tested dataset, generator, and configuration.”</a:t>
            </a:r>
            <a:endParaRPr lang="en-US" sz="1600" dirty="0"/>
          </a:p>
        </p:txBody>
      </p:sp>
      <p:sp>
        <p:nvSpPr>
          <p:cNvPr id="108" name="Shape 103"/>
          <p:cNvSpPr/>
          <p:nvPr/>
        </p:nvSpPr>
        <p:spPr>
          <a:xfrm>
            <a:off x="14813280" y="20592288"/>
            <a:ext cx="6263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4813280" y="20592288"/>
            <a:ext cx="6263640" cy="777240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110" name="Text 105"/>
          <p:cNvSpPr txBox="1"/>
          <p:nvPr/>
        </p:nvSpPr>
        <p:spPr>
          <a:xfrm>
            <a:off x="14996160" y="20711160"/>
            <a:ext cx="589788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Timeline / Workflow</a:t>
            </a:r>
            <a:endParaRPr lang="en-US" sz="2500" dirty="0"/>
          </a:p>
        </p:txBody>
      </p:sp>
      <p:sp>
        <p:nvSpPr>
          <p:cNvPr id="111" name="Shape 106"/>
          <p:cNvSpPr/>
          <p:nvPr/>
        </p:nvSpPr>
        <p:spPr>
          <a:xfrm>
            <a:off x="152247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12" name="Text 107"/>
          <p:cNvSpPr txBox="1"/>
          <p:nvPr/>
        </p:nvSpPr>
        <p:spPr>
          <a:xfrm>
            <a:off x="152247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B00</a:t>
            </a:r>
            <a:endParaRPr lang="en-US" sz="1600" dirty="0"/>
          </a:p>
        </p:txBody>
      </p:sp>
      <p:sp>
        <p:nvSpPr>
          <p:cNvPr id="113" name="Text 108"/>
          <p:cNvSpPr txBox="1"/>
          <p:nvPr/>
        </p:nvSpPr>
        <p:spPr>
          <a:xfrm>
            <a:off x="15956280" y="21726144"/>
            <a:ext cx="201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4" name="Shape 109"/>
          <p:cNvSpPr/>
          <p:nvPr/>
        </p:nvSpPr>
        <p:spPr>
          <a:xfrm>
            <a:off x="161391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15" name="Text 110"/>
          <p:cNvSpPr txBox="1"/>
          <p:nvPr/>
        </p:nvSpPr>
        <p:spPr>
          <a:xfrm>
            <a:off x="161391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B01</a:t>
            </a:r>
            <a:endParaRPr lang="en-US" sz="1600" dirty="0"/>
          </a:p>
        </p:txBody>
      </p:sp>
      <p:sp>
        <p:nvSpPr>
          <p:cNvPr id="116" name="Text 111"/>
          <p:cNvSpPr txBox="1"/>
          <p:nvPr/>
        </p:nvSpPr>
        <p:spPr>
          <a:xfrm>
            <a:off x="16870680" y="21726144"/>
            <a:ext cx="201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7" name="Shape 112"/>
          <p:cNvSpPr/>
          <p:nvPr/>
        </p:nvSpPr>
        <p:spPr>
          <a:xfrm>
            <a:off x="170535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18" name="Text 113"/>
          <p:cNvSpPr txBox="1"/>
          <p:nvPr/>
        </p:nvSpPr>
        <p:spPr>
          <a:xfrm>
            <a:off x="170535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B02</a:t>
            </a:r>
            <a:endParaRPr lang="en-US" sz="1600" dirty="0"/>
          </a:p>
        </p:txBody>
      </p:sp>
      <p:sp>
        <p:nvSpPr>
          <p:cNvPr id="119" name="Text 114"/>
          <p:cNvSpPr txBox="1"/>
          <p:nvPr/>
        </p:nvSpPr>
        <p:spPr>
          <a:xfrm>
            <a:off x="17785080" y="21726144"/>
            <a:ext cx="201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0" name="Shape 115"/>
          <p:cNvSpPr/>
          <p:nvPr/>
        </p:nvSpPr>
        <p:spPr>
          <a:xfrm>
            <a:off x="179679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179679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B03</a:t>
            </a:r>
            <a:endParaRPr lang="en-US" sz="1600" dirty="0"/>
          </a:p>
        </p:txBody>
      </p:sp>
      <p:sp>
        <p:nvSpPr>
          <p:cNvPr id="122" name="Text 117"/>
          <p:cNvSpPr txBox="1"/>
          <p:nvPr/>
        </p:nvSpPr>
        <p:spPr>
          <a:xfrm>
            <a:off x="18699480" y="21726144"/>
            <a:ext cx="201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3" name="Shape 118"/>
          <p:cNvSpPr/>
          <p:nvPr/>
        </p:nvSpPr>
        <p:spPr>
          <a:xfrm>
            <a:off x="188823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24" name="Text 119"/>
          <p:cNvSpPr txBox="1"/>
          <p:nvPr/>
        </p:nvSpPr>
        <p:spPr>
          <a:xfrm>
            <a:off x="188823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B04</a:t>
            </a:r>
            <a:endParaRPr lang="en-US" sz="1600" dirty="0"/>
          </a:p>
        </p:txBody>
      </p:sp>
      <p:sp>
        <p:nvSpPr>
          <p:cNvPr id="125" name="Text 120"/>
          <p:cNvSpPr txBox="1"/>
          <p:nvPr/>
        </p:nvSpPr>
        <p:spPr>
          <a:xfrm>
            <a:off x="19613880" y="21726144"/>
            <a:ext cx="201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6" name="Shape 121"/>
          <p:cNvSpPr/>
          <p:nvPr/>
        </p:nvSpPr>
        <p:spPr>
          <a:xfrm>
            <a:off x="19796760" y="21579840"/>
            <a:ext cx="749808" cy="74980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2F66A8"/>
            </a:solidFill>
            <a:prstDash val="solid"/>
          </a:ln>
        </p:spPr>
      </p:sp>
      <p:sp>
        <p:nvSpPr>
          <p:cNvPr id="127" name="Text 122"/>
          <p:cNvSpPr txBox="1"/>
          <p:nvPr/>
        </p:nvSpPr>
        <p:spPr>
          <a:xfrm>
            <a:off x="19796760" y="21717000"/>
            <a:ext cx="7498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B05</a:t>
            </a:r>
            <a:endParaRPr lang="en-US" sz="1600" dirty="0"/>
          </a:p>
        </p:txBody>
      </p:sp>
      <p:sp>
        <p:nvSpPr>
          <p:cNvPr id="128" name="Text 123"/>
          <p:cNvSpPr txBox="1"/>
          <p:nvPr/>
        </p:nvSpPr>
        <p:spPr>
          <a:xfrm>
            <a:off x="151333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pairs</a:t>
            </a:r>
            <a:endParaRPr lang="en-US" sz="1300" dirty="0"/>
          </a:p>
        </p:txBody>
      </p:sp>
      <p:sp>
        <p:nvSpPr>
          <p:cNvPr id="129" name="Text 124"/>
          <p:cNvSpPr txBox="1"/>
          <p:nvPr/>
        </p:nvSpPr>
        <p:spPr>
          <a:xfrm>
            <a:off x="160477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Pre-swap watermark</a:t>
            </a:r>
            <a:endParaRPr lang="en-US" sz="1300" dirty="0"/>
          </a:p>
        </p:txBody>
      </p:sp>
      <p:sp>
        <p:nvSpPr>
          <p:cNvPr id="130" name="Text 125"/>
          <p:cNvSpPr txBox="1"/>
          <p:nvPr/>
        </p:nvSpPr>
        <p:spPr>
          <a:xfrm>
            <a:off x="169621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SimSwap</a:t>
            </a:r>
            <a:endParaRPr lang="en-US" sz="1300" dirty="0"/>
          </a:p>
        </p:txBody>
      </p:sp>
      <p:sp>
        <p:nvSpPr>
          <p:cNvPr id="131" name="Text 126"/>
          <p:cNvSpPr txBox="1"/>
          <p:nvPr/>
        </p:nvSpPr>
        <p:spPr>
          <a:xfrm>
            <a:off x="178765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300" dirty="0"/>
          </a:p>
        </p:txBody>
      </p:sp>
      <p:sp>
        <p:nvSpPr>
          <p:cNvPr id="132" name="Text 127"/>
          <p:cNvSpPr txBox="1"/>
          <p:nvPr/>
        </p:nvSpPr>
        <p:spPr>
          <a:xfrm>
            <a:off x="187909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3" name="Text 128"/>
          <p:cNvSpPr txBox="1"/>
          <p:nvPr/>
        </p:nvSpPr>
        <p:spPr>
          <a:xfrm>
            <a:off x="19705320" y="22475952"/>
            <a:ext cx="932688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4" name="Text 129"/>
          <p:cNvSpPr txBox="1"/>
          <p:nvPr/>
        </p:nvSpPr>
        <p:spPr>
          <a:xfrm>
            <a:off x="15252192" y="23362920"/>
            <a:ext cx="5385816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 checkpoint: figures and conclusions should come from the integrated B05 table, not from smoke-test screenshots.</a:t>
            </a:r>
            <a:endParaRPr lang="en-US" sz="1700" dirty="0"/>
          </a:p>
        </p:txBody>
      </p:sp>
      <p:sp>
        <p:nvSpPr>
          <p:cNvPr id="135" name="Shape 130"/>
          <p:cNvSpPr/>
          <p:nvPr/>
        </p:nvSpPr>
        <p:spPr>
          <a:xfrm>
            <a:off x="14813280" y="25676352"/>
            <a:ext cx="6263640" cy="4608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14813280" y="25676352"/>
            <a:ext cx="6263640" cy="749808"/>
          </a:xfrm>
          <a:prstGeom prst="rect">
            <a:avLst/>
          </a:prstGeom>
          <a:solidFill>
            <a:srgbClr val="2F66A8"/>
          </a:solidFill>
          <a:ln w="12700">
            <a:solidFill>
              <a:srgbClr val="2F66A8">
                <a:alpha val="0"/>
              </a:srgbClr>
            </a:solidFill>
            <a:prstDash val="solid"/>
          </a:ln>
        </p:spPr>
      </p:sp>
      <p:sp>
        <p:nvSpPr>
          <p:cNvPr id="137" name="Text 132"/>
          <p:cNvSpPr txBox="1"/>
          <p:nvPr/>
        </p:nvSpPr>
        <p:spPr>
          <a:xfrm>
            <a:off x="14996160" y="25795224"/>
            <a:ext cx="58978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138" name="Text 133"/>
          <p:cNvSpPr txBox="1"/>
          <p:nvPr/>
        </p:nvSpPr>
        <p:spPr>
          <a:xfrm>
            <a:off x="15087600" y="26654760"/>
            <a:ext cx="5715000" cy="3154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Yan et al. “DeepfakeBench: A Comprehensive Benchmark of Deepfake Detection.” NeurIPS, 2023.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Bui et al. “TrustMark: Robust Watermarking and Watermark Removal for Arbitrary Resolution Images.” ICCV, 2025.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Wu et al. “Are Watermarks Bugs for Deepfake Detectors? Rethinking Proactive Forensics.” IJCAI, 2024.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FaceForensics++ dataset citation — [ADD FINAL BIBLIOGRAPHIC ENTRY].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SimSwap model citation — [ADD FINAL BIBLIOGRAPHIC ENTRY].</a:t>
            </a:r>
            <a:endParaRPr lang="en-US" sz="1300" dirty="0"/>
          </a:p>
        </p:txBody>
      </p:sp>
      <p:sp>
        <p:nvSpPr>
          <p:cNvPr id="139" name="Shape 134"/>
          <p:cNvSpPr/>
          <p:nvPr/>
        </p:nvSpPr>
        <p:spPr>
          <a:xfrm>
            <a:off x="0" y="30650688"/>
            <a:ext cx="2194560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Text 135"/>
          <p:cNvSpPr txBox="1"/>
          <p:nvPr/>
        </p:nvSpPr>
        <p:spPr>
          <a:xfrm>
            <a:off x="594360" y="30742128"/>
            <a:ext cx="29260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35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Sponsors:</a:t>
            </a:r>
            <a:endParaRPr lang="en-US" sz="1600" dirty="0"/>
          </a:p>
        </p:txBody>
      </p:sp>
      <p:pic>
        <p:nvPicPr>
          <p:cNvPr id="141" name="Image 3" descr="/mnt/data/footer_spo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1162752"/>
            <a:ext cx="19842480" cy="1353312"/>
          </a:xfrm>
          <a:prstGeom prst="rect">
            <a:avLst/>
          </a:prstGeom>
        </p:spPr>
      </p:pic>
      <p:sp>
        <p:nvSpPr>
          <p:cNvPr id="142" name="Text 136"/>
          <p:cNvSpPr txBox="1"/>
          <p:nvPr/>
        </p:nvSpPr>
        <p:spPr>
          <a:xfrm>
            <a:off x="16687800" y="30723840"/>
            <a:ext cx="4617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35B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 Meeting · October 1,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UPRM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Face-Swap Manipulation on Invisible Watermark Recoverability</dc:title>
  <dc:subject>IAP 2026 research poster draft</dc:subject>
  <dc:creator>OpenAI</dc:creator>
  <cp:lastModifiedBy>OpenAI</cp:lastModifiedBy>
  <cp:revision>1</cp:revision>
  <dcterms:created xsi:type="dcterms:W3CDTF">2026-09-21T22:39:48Z</dcterms:created>
  <dcterms:modified xsi:type="dcterms:W3CDTF">2026-09-21T22:39:48Z</dcterms:modified>
</cp:coreProperties>
</file>